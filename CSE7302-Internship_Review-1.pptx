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60" r:id="rId3"/>
    <p:sldId id="261" r:id="rId4"/>
    <p:sldId id="270" r:id="rId5"/>
    <p:sldId id="27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pPr algn="ctr">
            <a:buFont typeface="Arial" panose="020B060402020202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Sanctions screening engine</a:t>
          </a:r>
        </a:p>
        <a:p>
          <a:pPr algn="ctr">
            <a:buFont typeface="Arial" panose="020B0604020202020204" pitchFamily="34" charset="0"/>
            <a:buChar char="•"/>
          </a:pP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>
            <a:buFont typeface="Arial" panose="020B060402020202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Data sync and system health monitoring</a:t>
          </a:r>
        </a:p>
        <a:p>
          <a:pPr algn="ctr">
            <a:buFont typeface="Arial" panose="020B0604020202020204" pitchFamily="34" charset="0"/>
            <a:buChar char="•"/>
          </a:pP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>
            <a:buFont typeface="Arial" panose="020B0604020202020204" pitchFamily="34" charset="0"/>
            <a:buChar char="•"/>
          </a:pP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Admin-level intelligence &amp; network visualization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UI/UX and visualization enhancements</a:t>
          </a:r>
        </a:p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Adverse media enrichment</a:t>
          </a:r>
        </a:p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Risk scoring improvements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pPr algn="ctr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TBD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F2ADD6AD-8E86-44D1-9F68-BB119F1008F7}">
      <dgm:prSet/>
      <dgm:spPr/>
      <dgm:t>
        <a:bodyPr/>
        <a:lstStyle/>
        <a:p>
          <a:r>
            <a:rPr lang="en-IN" dirty="0" err="1"/>
            <a:t>TBasdas</a:t>
          </a:r>
          <a:endParaRPr lang="en-IN" dirty="0"/>
        </a:p>
      </dgm:t>
    </dgm:pt>
    <dgm:pt modelId="{838E851B-9BF0-439E-8829-BD88B08257C0}" type="parTrans" cxnId="{253224B8-C7CE-44E0-BF25-2F8538CC4106}">
      <dgm:prSet/>
      <dgm:spPr/>
      <dgm:t>
        <a:bodyPr/>
        <a:lstStyle/>
        <a:p>
          <a:endParaRPr lang="en-IN"/>
        </a:p>
      </dgm:t>
    </dgm:pt>
    <dgm:pt modelId="{70DFCF60-230C-4F86-A54E-F07D46A111AB}" type="sibTrans" cxnId="{253224B8-C7CE-44E0-BF25-2F8538CC4106}">
      <dgm:prSet/>
      <dgm:spPr/>
      <dgm:t>
        <a:bodyPr/>
        <a:lstStyle/>
        <a:p>
          <a:endParaRPr lang="en-IN"/>
        </a:p>
      </dgm:t>
    </dgm:pt>
    <dgm:pt modelId="{40319B54-7633-4034-AAE0-3BED200A9216}">
      <dgm:prSet/>
      <dgm:spPr/>
      <dgm:t>
        <a:bodyPr/>
        <a:lstStyle/>
        <a:p>
          <a:r>
            <a:rPr lang="en-IN" dirty="0" err="1"/>
            <a:t>sadas</a:t>
          </a:r>
          <a:endParaRPr lang="en-IN" dirty="0"/>
        </a:p>
      </dgm:t>
    </dgm:pt>
    <dgm:pt modelId="{2AEFB7AA-D0FA-46CE-96B4-C5AD4933918D}" type="parTrans" cxnId="{941D4544-2F1C-4291-A34F-12A902D8CC6B}">
      <dgm:prSet/>
      <dgm:spPr/>
      <dgm:t>
        <a:bodyPr/>
        <a:lstStyle/>
        <a:p>
          <a:endParaRPr lang="en-IN"/>
        </a:p>
      </dgm:t>
    </dgm:pt>
    <dgm:pt modelId="{96781718-6211-48FD-A57B-CA83F2C12B5E}" type="sibTrans" cxnId="{941D4544-2F1C-4291-A34F-12A902D8CC6B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 custScaleX="116287" custLinFactNeighborX="-8149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 custScaleX="115510" custLinFactNeighborX="-7696" custLinFactNeighborY="1141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 custScaleX="121191" custLinFactNeighborX="-25350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 custScaleX="120015" custLinFactNeighborX="-25350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F3393C2B-5060-437A-8654-D7EB1FE62139}" type="presOf" srcId="{F2ADD6AD-8E86-44D1-9F68-BB119F1008F7}" destId="{FC0F1314-3294-4A8C-8DCE-EB53E236164C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21019263-ED2D-42D6-A73F-ABF1F6282DAE}" type="presOf" srcId="{F2ADD6AD-8E86-44D1-9F68-BB119F1008F7}" destId="{98225A61-A0EC-450A-BED8-EF2E47E8FD18}" srcOrd="1" destOrd="0" presId="urn:microsoft.com/office/officeart/2011/layout/InterconnectedBlockProcess"/>
    <dgm:cxn modelId="{941D4544-2F1C-4291-A34F-12A902D8CC6B}" srcId="{65C051F6-A849-4495-A964-CD4C650B9C06}" destId="{40319B54-7633-4034-AAE0-3BED200A9216}" srcOrd="0" destOrd="0" parTransId="{2AEFB7AA-D0FA-46CE-96B4-C5AD4933918D}" sibTransId="{96781718-6211-48FD-A57B-CA83F2C12B5E}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C29207B0-70FA-446A-894E-2775154D0F13}" type="presOf" srcId="{40319B54-7633-4034-AAE0-3BED200A9216}" destId="{928B615F-0F8D-4140-A638-0FBB8F5BF1E9}" srcOrd="1" destOrd="0" presId="urn:microsoft.com/office/officeart/2011/layout/InterconnectedBlockProcess"/>
    <dgm:cxn modelId="{253224B8-C7CE-44E0-BF25-2F8538CC4106}" srcId="{5E92505A-51E0-4F78-B3C5-704ACF8710DE}" destId="{F2ADD6AD-8E86-44D1-9F68-BB119F1008F7}" srcOrd="0" destOrd="0" parTransId="{838E851B-9BF0-439E-8829-BD88B08257C0}" sibTransId="{70DFCF60-230C-4F86-A54E-F07D46A111AB}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23778FEC-C7BF-48DB-AF0D-F900EE13BF56}" type="presOf" srcId="{40319B54-7633-4034-AAE0-3BED200A9216}" destId="{8CAE5A4D-0C7B-48A6-917B-0B8433D0574B}" srcOrd="0" destOrd="0" presId="urn:microsoft.com/office/officeart/2011/layout/InterconnectedBlockProcess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241406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 err="1"/>
            <a:t>sadas</a:t>
          </a:r>
          <a:endParaRPr lang="en-IN" sz="1400" kern="1200" dirty="0"/>
        </a:p>
      </dsp:txBody>
      <dsp:txXfrm>
        <a:off x="7403672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241406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241406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966279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 err="1"/>
            <a:t>TBasdas</a:t>
          </a:r>
          <a:endParaRPr lang="en-IN" sz="1400" kern="1200" dirty="0"/>
        </a:p>
      </dsp:txBody>
      <dsp:txXfrm>
        <a:off x="6128545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966279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966279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87958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TBD</a:t>
          </a:r>
        </a:p>
      </dsp:txBody>
      <dsp:txXfrm>
        <a:off x="4850224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87958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87958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201367" y="811639"/>
          <a:ext cx="1486521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UI/UX and visualization enhancements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Adverse media enrichment</a:t>
          </a: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Risk scoring improvements</a:t>
          </a:r>
        </a:p>
      </dsp:txBody>
      <dsp:txXfrm>
        <a:off x="3390061" y="811639"/>
        <a:ext cx="1297827" cy="2637826"/>
      </dsp:txXfrm>
    </dsp:sp>
    <dsp:sp modelId="{00BB3360-A9BB-4051-A4B1-1216F82F642C}">
      <dsp:nvSpPr>
        <dsp:cNvPr id="0" name=""/>
        <dsp:cNvSpPr/>
      </dsp:nvSpPr>
      <dsp:spPr>
        <a:xfrm>
          <a:off x="3212124" y="310152"/>
          <a:ext cx="1476588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212124" y="310152"/>
        <a:ext cx="1476588" cy="507274"/>
      </dsp:txXfrm>
    </dsp:sp>
    <dsp:sp modelId="{A134CDD1-D85F-44EF-8BEE-9F99A855C1E6}">
      <dsp:nvSpPr>
        <dsp:cNvPr id="0" name=""/>
        <dsp:cNvSpPr/>
      </dsp:nvSpPr>
      <dsp:spPr>
        <a:xfrm>
          <a:off x="1671818" y="811639"/>
          <a:ext cx="1549209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Sanctions screening engine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sync and system health monitoring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Admin-level intelligence &amp; network visualization</a:t>
          </a:r>
        </a:p>
      </dsp:txBody>
      <dsp:txXfrm>
        <a:off x="1868469" y="811639"/>
        <a:ext cx="1352558" cy="2434917"/>
      </dsp:txXfrm>
    </dsp:sp>
    <dsp:sp modelId="{65257024-FAC0-4522-B139-1CC85B547BE8}">
      <dsp:nvSpPr>
        <dsp:cNvPr id="0" name=""/>
        <dsp:cNvSpPr/>
      </dsp:nvSpPr>
      <dsp:spPr>
        <a:xfrm>
          <a:off x="1679334" y="405819"/>
          <a:ext cx="1534176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1679334" y="405819"/>
        <a:ext cx="1534176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10/01/2026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10-01-2026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10-01-2026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10-01-2026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10-01-2026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10-01-2026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10-01-2026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10-01-2026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hnuH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13794" y="1717442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Suma N 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Computer Science and Engineering (AI&amp;ML)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Zafar Ali Khan N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Anandan Bellie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Building a Secure FinTech Anti-Money Laundering Solution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535676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Jahnu Tanai Kumar Hindupur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20221CAI0012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8CAI02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Overview: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leading technology company specializing in tailored software, robust hardware, and strategic consultancy.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Principles: Innovation, Seamless Integration, and Client Satisfaction.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Market: Empowering businesses in the digital era with end-to-end financial transaction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76D74-5368-6C8B-4055-2FC295D20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7590-2211-480D-E1E9-9D9019437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EFFB5-08EB-82C7-6BFD-09B24261D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Software Products: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EFT Switch: Connects diverse payment channels (ATM, POS, Mobile) with PCI-DSS security.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 Management System (CMS): Supports major interchanges like VISA, Mastercard,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RuPay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Wallet &amp; Merchant Portal: Digital payment platforms and management gateways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3D7E-F4AE-8881-6719-63F4E731A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976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9D0DF-5532-0DC6-608A-503F93600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6EC14-13C8-35A7-9E1F-F4E1FBC7B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Innovitegra</a:t>
            </a:r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F239C-86B1-9C6B-75B6-6CA2AD01C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&amp; Services: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ATMs, Recyclers, POS terminals, Kiosks, and HSMs.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 Services: Custom Software Development, Resource Augmentation, and Strategic Advisory.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11429-A2FE-2931-AFC2-4600B9CF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4941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&amp;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Anti-Money Laundering &amp; Financial Crime Risk Management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Sanctions Screening (OFAC, UN, EU, BIS,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OpenSanctions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Scoring &amp; Name Matching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Synchronization &amp; Version Control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Network Intelligence (EDD)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regulatory compliance, prevents high-risk onboarding, and supports AML investigations in banks.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Structure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Structure: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AML Developer (My Role): Core logic, data sync, intelligence engine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Analyst (Conceptual): Rules and thresholds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 (Conceptual): Accuracy and validation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Guide: Design review and guidance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development → validation → enhancement under guide supervision.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Reporting to Technical 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Transition Milestone: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Evolving from a freelance contributor to a full-time intern, requiring a shift from task-based isolation to continuous team collaboration and structured reporting.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Domain Learning Curve: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Complexity: Navigating massive, sensitive financial datasets and ensuring Privacy by Design (GDPR/Compliance).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Evasion: Dealing with situations where money laundering typologies constantly evolve, requiring adaptive ML models.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 Pressure: Balancing strict detection thresholds with operational efficiency to minimize unnecessary analyst workload.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44092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robust AML sanctions screening and intelligence system that ensures only compliant customers are onboarded while providing investigators with advanced tools for Enhanced Due Diligence.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Goals: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sanctioned and high-risk individuals accurately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sanctions data continuously up-to-date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deep intelligence for PEPs and high-profile entities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End-User / Bank Benefits: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compliance risk and regulatory penalties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informed investigation decisions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transparency and audit readiness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AML architecture suitable for real banking environments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7539180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https://github.com/JahnuH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7069</TotalTime>
  <Words>646</Words>
  <Application>Microsoft Office PowerPoint</Application>
  <PresentationFormat>Widescreen</PresentationFormat>
  <Paragraphs>109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Innovitegra Solutions</vt:lpstr>
      <vt:lpstr>About Innovitegra Solutions</vt:lpstr>
      <vt:lpstr>About Innovitegra Solutions</vt:lpstr>
      <vt:lpstr>Working Domain &amp; Technology</vt:lpstr>
      <vt:lpstr>Team Structure &amp; Workflow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Jahnu Hindupur</cp:lastModifiedBy>
  <cp:revision>717</cp:revision>
  <dcterms:created xsi:type="dcterms:W3CDTF">2022-10-14T07:18:17Z</dcterms:created>
  <dcterms:modified xsi:type="dcterms:W3CDTF">2026-01-09T20:20:15Z</dcterms:modified>
</cp:coreProperties>
</file>