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281" r:id="rId3"/>
    <p:sldId id="277" r:id="rId4"/>
    <p:sldId id="278" r:id="rId5"/>
    <p:sldId id="279" r:id="rId6"/>
    <p:sldId id="284" r:id="rId7"/>
    <p:sldId id="263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82" r:id="rId16"/>
    <p:sldId id="283" r:id="rId17"/>
    <p:sldId id="280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AML sanctions screening engine development</a:t>
          </a:r>
        </a:p>
        <a:p>
          <a:pPr algn="ctr">
            <a:buFont typeface="Arial" panose="020B0604020202020204" pitchFamily="34" charset="0"/>
            <a:buChar char="•"/>
          </a:pP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pipeline and system health monitoring</a:t>
          </a:r>
        </a:p>
        <a:p>
          <a:pPr algn="ctr">
            <a:buFont typeface="Arial" panose="020B0604020202020204" pitchFamily="34" charset="0"/>
            <a:buChar char="•"/>
          </a:pP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Environment setup and tech stack finalization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custT="1"/>
      <dgm:spPr/>
      <dgm:t>
        <a:bodyPr/>
        <a:lstStyle/>
        <a:p>
          <a:pPr algn="ctr"/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Migrated AML to test server </a:t>
          </a:r>
        </a:p>
        <a:p>
          <a:pPr algn="ctr"/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system services for 24/7 runtime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Public API endpoints created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 custT="1"/>
      <dgm:spPr/>
      <dgm:t>
        <a:bodyPr/>
        <a:lstStyle/>
        <a:p>
          <a:pPr algn="ctr">
            <a:buNone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Migrated AML to client production server</a:t>
          </a:r>
        </a:p>
        <a:p>
          <a:pPr algn="ctr">
            <a:buNone/>
          </a:pP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None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Implemented JWT authentication, API keys and logging</a:t>
          </a: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Developed FRMS AI/ML system</a:t>
          </a: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Contributed to Flutter consumer app UI</a:t>
          </a: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Started Merchant POS UI redesign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40319B54-7633-4034-AAE0-3BED200A9216}">
      <dgm:prSet custT="1"/>
      <dgm:spPr/>
      <dgm:t>
        <a:bodyPr/>
        <a:lstStyle/>
        <a:p>
          <a:pPr algn="ctr"/>
          <a:r>
            <a:rPr lang="en-I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gm:t>
    </dgm:pt>
    <dgm:pt modelId="{2AEFB7AA-D0FA-46CE-96B4-C5AD4933918D}" type="parTrans" cxnId="{941D4544-2F1C-4291-A34F-12A902D8CC6B}">
      <dgm:prSet/>
      <dgm:spPr/>
      <dgm:t>
        <a:bodyPr/>
        <a:lstStyle/>
        <a:p>
          <a:endParaRPr lang="en-IN"/>
        </a:p>
      </dgm:t>
    </dgm:pt>
    <dgm:pt modelId="{96781718-6211-48FD-A57B-CA83F2C12B5E}" type="sibTrans" cxnId="{941D4544-2F1C-4291-A34F-12A902D8CC6B}">
      <dgm:prSet/>
      <dgm:spPr/>
      <dgm:t>
        <a:bodyPr/>
        <a:lstStyle/>
        <a:p>
          <a:endParaRPr lang="en-IN"/>
        </a:p>
      </dgm:t>
    </dgm:pt>
    <dgm:pt modelId="{F2ADD6AD-8E86-44D1-9F68-BB119F1008F7}">
      <dgm:prSet custT="1"/>
      <dgm:spPr/>
      <dgm:t>
        <a:bodyPr/>
        <a:lstStyle/>
        <a:p>
          <a:pPr algn="ctr"/>
          <a:r>
            <a:rPr lang="fr-FR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Continue Merchant app </a:t>
          </a:r>
          <a:r>
            <a:rPr lang="fr-FR" sz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development</a:t>
          </a:r>
          <a:br>
            <a:rPr lang="fr-FR" sz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fr-FR" sz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Begin BI + AIML project with US client</a:t>
          </a:r>
          <a:b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 FRMS using real transaction data</a:t>
          </a:r>
          <a:endParaRPr lang="en-IN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8E851B-9BF0-439E-8829-BD88B08257C0}" type="parTrans" cxnId="{F2CCB298-5C3E-4541-8B5A-9CAFE9E019C2}">
      <dgm:prSet/>
      <dgm:spPr/>
      <dgm:t>
        <a:bodyPr/>
        <a:lstStyle/>
        <a:p>
          <a:endParaRPr lang="en-IN"/>
        </a:p>
      </dgm:t>
    </dgm:pt>
    <dgm:pt modelId="{70DFCF60-230C-4F86-A54E-F07D46A111AB}" type="sibTrans" cxnId="{F2CCB298-5C3E-4541-8B5A-9CAFE9E019C2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9BB94E7E-164E-40B0-89BA-78D1A18C5E42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AEBC43B1-33E0-40D6-B079-1088FE0E636F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362097B-16C0-4AAF-A122-DFB0A8D8E1B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DBFE617E-2233-42F4-BD3C-79B5CB052FE8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67D9808D-876F-444E-80F2-3515B3C8C664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1CA4398-2062-4A2B-BD5F-AE18FF5B052A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ScaleX="116287" custLinFactNeighborX="-8149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 custScaleX="115510" custLinFactNeighborX="-7696" custLinFactNeighborY="1141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ScaleX="121191" custLinFactNeighborX="-25350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 custScaleX="120015" custLinFactNeighborX="-25350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6052CC12-D814-4DD8-AB57-598AC58162C3}" type="presOf" srcId="{D471E45F-B026-44AA-9616-57E786AE80AF}" destId="{1C91D7E3-8940-4A33-9182-677DD5415901}" srcOrd="1" destOrd="0" presId="urn:microsoft.com/office/officeart/2011/layout/InterconnectedBlockProcess"/>
    <dgm:cxn modelId="{C60A1520-9975-4C99-A976-3EA8901C3641}" type="presOf" srcId="{F2ADD6AD-8E86-44D1-9F68-BB119F1008F7}" destId="{FC0F1314-3294-4A8C-8DCE-EB53E236164C}" srcOrd="0" destOrd="0" presId="urn:microsoft.com/office/officeart/2011/layout/InterconnectedBlockProcess"/>
    <dgm:cxn modelId="{6BA67C60-7AF5-4E8D-AD45-2AFF19055FF7}" type="presOf" srcId="{9FED87C4-3F3B-4A18-9185-9F80CFEDEA2E}" destId="{06F8D57B-EDF4-4CF4-8700-DC2CA3E3028E}" srcOrd="0" destOrd="0" presId="urn:microsoft.com/office/officeart/2011/layout/InterconnectedBlockProcess"/>
    <dgm:cxn modelId="{941D4544-2F1C-4291-A34F-12A902D8CC6B}" srcId="{65C051F6-A849-4495-A964-CD4C650B9C06}" destId="{40319B54-7633-4034-AAE0-3BED200A9216}" srcOrd="0" destOrd="0" parTransId="{2AEFB7AA-D0FA-46CE-96B4-C5AD4933918D}" sibTransId="{96781718-6211-48FD-A57B-CA83F2C12B5E}"/>
    <dgm:cxn modelId="{8E83EC52-BE1A-468C-8FCD-EEA6C875EAF1}" type="presOf" srcId="{988D96B0-D16E-4763-B393-84178CF4FF50}" destId="{65257024-FAC0-4522-B139-1CC85B547BE8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16B9E77B-BBB4-4A5F-BDA8-464AAD9D71AA}" type="presOf" srcId="{73DB572E-062D-41AD-8033-D361B8E583DB}" destId="{0D08ED52-6744-4369-B780-916B09984775}" srcOrd="1" destOrd="0" presId="urn:microsoft.com/office/officeart/2011/layout/InterconnectedBlockProcess"/>
    <dgm:cxn modelId="{093A4293-BC47-4D61-87EF-D7A6F6CE137D}" type="presOf" srcId="{A59EC69B-8F3F-425B-819F-E8C557946AEE}" destId="{4C66D42D-7E6D-4563-AFDC-369C30B73F70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F2CCB298-5C3E-4541-8B5A-9CAFE9E019C2}" srcId="{5E92505A-51E0-4F78-B3C5-704ACF8710DE}" destId="{F2ADD6AD-8E86-44D1-9F68-BB119F1008F7}" srcOrd="0" destOrd="0" parTransId="{838E851B-9BF0-439E-8829-BD88B08257C0}" sibTransId="{70DFCF60-230C-4F86-A54E-F07D46A111AB}"/>
    <dgm:cxn modelId="{CC99C1AC-B904-4382-BEF5-3A7577426FFC}" type="presOf" srcId="{65C051F6-A849-4495-A964-CD4C650B9C06}" destId="{9362097B-16C0-4AAF-A122-DFB0A8D8E1BE}" srcOrd="0" destOrd="0" presId="urn:microsoft.com/office/officeart/2011/layout/InterconnectedBlockProcess"/>
    <dgm:cxn modelId="{01367CB9-C52C-482F-AD6D-54FF1C4EC44F}" type="presOf" srcId="{40319B54-7633-4034-AAE0-3BED200A9216}" destId="{AEBC43B1-33E0-40D6-B079-1088FE0E636F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3D2EA7C8-740A-4380-B740-3B2611E7AEAC}" type="presOf" srcId="{F2ADD6AD-8E86-44D1-9F68-BB119F1008F7}" destId="{67D9808D-876F-444E-80F2-3515B3C8C664}" srcOrd="1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7520A6DC-7681-4646-B866-CFB53DB8502F}" type="presOf" srcId="{7B3055AA-BF7C-46D0-9A9E-60087B9F57B4}" destId="{00BB3360-A9BB-4051-A4B1-1216F82F642C}" srcOrd="0" destOrd="0" presId="urn:microsoft.com/office/officeart/2011/layout/InterconnectedBlockProcess"/>
    <dgm:cxn modelId="{CEED68DD-565C-45B9-8F28-F550EDBC7A43}" type="presOf" srcId="{5E92505A-51E0-4F78-B3C5-704ACF8710DE}" destId="{61CA4398-2062-4A2B-BD5F-AE18FF5B052A}" srcOrd="0" destOrd="0" presId="urn:microsoft.com/office/officeart/2011/layout/InterconnectedBlockProcess"/>
    <dgm:cxn modelId="{6F29D3DE-2C5B-4A66-A672-2ABB12D3DAA2}" type="presOf" srcId="{40319B54-7633-4034-AAE0-3BED200A9216}" destId="{8CAE5A4D-0C7B-48A6-917B-0B8433D0574B}" srcOrd="0" destOrd="0" presId="urn:microsoft.com/office/officeart/2011/layout/InterconnectedBlockProcess"/>
    <dgm:cxn modelId="{3589D3E7-A53A-4441-8D60-B477D2BA2CA0}" type="presOf" srcId="{D471E45F-B026-44AA-9616-57E786AE80AF}" destId="{A134CDD1-D85F-44EF-8BEE-9F99A855C1E6}" srcOrd="0" destOrd="0" presId="urn:microsoft.com/office/officeart/2011/layout/InterconnectedBlockProcess"/>
    <dgm:cxn modelId="{CA7331E8-3508-4ABC-9DBE-9651F3EAA7FD}" type="presOf" srcId="{73DB572E-062D-41AD-8033-D361B8E583DB}" destId="{2532504F-5FE1-4C97-B485-F05E8885EACC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897CE5ED-A3D4-4A93-8CDE-1F5EDEEA37F8}" type="presOf" srcId="{9FED87C4-3F3B-4A18-9185-9F80CFEDEA2E}" destId="{6BCCFBA6-7A43-4631-AD7F-AFB10E1E6CD7}" srcOrd="1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6DE5740C-B7B6-4624-BB8C-3FE26DC4B3BF}" type="presParOf" srcId="{A6BCDA7B-D633-438F-B44D-CB4D60E5C492}" destId="{9BB94E7E-164E-40B0-89BA-78D1A18C5E42}" srcOrd="0" destOrd="0" presId="urn:microsoft.com/office/officeart/2011/layout/InterconnectedBlockProcess"/>
    <dgm:cxn modelId="{12DB3F6D-84DA-44BC-A795-4D4708A1CA96}" type="presParOf" srcId="{9BB94E7E-164E-40B0-89BA-78D1A18C5E42}" destId="{8CAE5A4D-0C7B-48A6-917B-0B8433D0574B}" srcOrd="0" destOrd="0" presId="urn:microsoft.com/office/officeart/2011/layout/InterconnectedBlockProcess"/>
    <dgm:cxn modelId="{8322F452-CD70-4264-AFD9-639D1B7AC5DB}" type="presParOf" srcId="{A6BCDA7B-D633-438F-B44D-CB4D60E5C492}" destId="{AEBC43B1-33E0-40D6-B079-1088FE0E636F}" srcOrd="1" destOrd="0" presId="urn:microsoft.com/office/officeart/2011/layout/InterconnectedBlockProcess"/>
    <dgm:cxn modelId="{5F258010-EAFB-42C6-82E0-50EF7BBE6E5B}" type="presParOf" srcId="{A6BCDA7B-D633-438F-B44D-CB4D60E5C492}" destId="{9362097B-16C0-4AAF-A122-DFB0A8D8E1BE}" srcOrd="2" destOrd="0" presId="urn:microsoft.com/office/officeart/2011/layout/InterconnectedBlockProcess"/>
    <dgm:cxn modelId="{6A97C0FC-CC49-4D4C-8439-CAF3A7D37EFF}" type="presParOf" srcId="{A6BCDA7B-D633-438F-B44D-CB4D60E5C492}" destId="{DBFE617E-2233-42F4-BD3C-79B5CB052FE8}" srcOrd="3" destOrd="0" presId="urn:microsoft.com/office/officeart/2011/layout/InterconnectedBlockProcess"/>
    <dgm:cxn modelId="{752DDCD8-BF8E-4ADB-BF75-AC5D6C692C87}" type="presParOf" srcId="{DBFE617E-2233-42F4-BD3C-79B5CB052FE8}" destId="{FC0F1314-3294-4A8C-8DCE-EB53E236164C}" srcOrd="0" destOrd="0" presId="urn:microsoft.com/office/officeart/2011/layout/InterconnectedBlockProcess"/>
    <dgm:cxn modelId="{B074179C-C63B-439F-99B4-A7AFDE53A883}" type="presParOf" srcId="{A6BCDA7B-D633-438F-B44D-CB4D60E5C492}" destId="{67D9808D-876F-444E-80F2-3515B3C8C664}" srcOrd="4" destOrd="0" presId="urn:microsoft.com/office/officeart/2011/layout/InterconnectedBlockProcess"/>
    <dgm:cxn modelId="{3508B51E-2FF7-40BB-98A5-4D5CF98681F6}" type="presParOf" srcId="{A6BCDA7B-D633-438F-B44D-CB4D60E5C492}" destId="{61CA4398-2062-4A2B-BD5F-AE18FF5B052A}" srcOrd="5" destOrd="0" presId="urn:microsoft.com/office/officeart/2011/layout/InterconnectedBlockProcess"/>
    <dgm:cxn modelId="{0812630B-9BBF-4D16-B911-9CEEC91A5D9E}" type="presParOf" srcId="{A6BCDA7B-D633-438F-B44D-CB4D60E5C492}" destId="{96AFCF47-32CA-4C44-9E3C-782007B7112E}" srcOrd="6" destOrd="0" presId="urn:microsoft.com/office/officeart/2011/layout/InterconnectedBlockProcess"/>
    <dgm:cxn modelId="{A5F03C77-265E-48FA-9667-60A6058BB558}" type="presParOf" srcId="{96AFCF47-32CA-4C44-9E3C-782007B7112E}" destId="{2532504F-5FE1-4C97-B485-F05E8885EACC}" srcOrd="0" destOrd="0" presId="urn:microsoft.com/office/officeart/2011/layout/InterconnectedBlockProcess"/>
    <dgm:cxn modelId="{7B5650A6-6DAB-4BCC-AFD5-3F51E55C990E}" type="presParOf" srcId="{A6BCDA7B-D633-438F-B44D-CB4D60E5C492}" destId="{0D08ED52-6744-4369-B780-916B09984775}" srcOrd="7" destOrd="0" presId="urn:microsoft.com/office/officeart/2011/layout/InterconnectedBlockProcess"/>
    <dgm:cxn modelId="{2AC4E883-E2A4-4DBE-B3D4-FF5FFC8834D7}" type="presParOf" srcId="{A6BCDA7B-D633-438F-B44D-CB4D60E5C492}" destId="{4C66D42D-7E6D-4563-AFDC-369C30B73F70}" srcOrd="8" destOrd="0" presId="urn:microsoft.com/office/officeart/2011/layout/InterconnectedBlockProcess"/>
    <dgm:cxn modelId="{2F849721-61A1-4ADB-B014-CE22142501F5}" type="presParOf" srcId="{A6BCDA7B-D633-438F-B44D-CB4D60E5C492}" destId="{C1269CE6-C767-48CC-AAFD-A238D1FFDABA}" srcOrd="9" destOrd="0" presId="urn:microsoft.com/office/officeart/2011/layout/InterconnectedBlockProcess"/>
    <dgm:cxn modelId="{01D56F18-6204-40E5-9344-89E7CA534576}" type="presParOf" srcId="{C1269CE6-C767-48CC-AAFD-A238D1FFDABA}" destId="{06F8D57B-EDF4-4CF4-8700-DC2CA3E3028E}" srcOrd="0" destOrd="0" presId="urn:microsoft.com/office/officeart/2011/layout/InterconnectedBlockProcess"/>
    <dgm:cxn modelId="{205D8E56-9751-47EB-8BFC-E4AE7B43983D}" type="presParOf" srcId="{A6BCDA7B-D633-438F-B44D-CB4D60E5C492}" destId="{6BCCFBA6-7A43-4631-AD7F-AFB10E1E6CD7}" srcOrd="10" destOrd="0" presId="urn:microsoft.com/office/officeart/2011/layout/InterconnectedBlockProcess"/>
    <dgm:cxn modelId="{5A87DE72-8BBB-4FF8-80DA-A2FE13972FB5}" type="presParOf" srcId="{A6BCDA7B-D633-438F-B44D-CB4D60E5C492}" destId="{00BB3360-A9BB-4051-A4B1-1216F82F642C}" srcOrd="11" destOrd="0" presId="urn:microsoft.com/office/officeart/2011/layout/InterconnectedBlockProcess"/>
    <dgm:cxn modelId="{ACE2428A-58B5-435E-A2F8-F9258B11C1A7}" type="presParOf" srcId="{A6BCDA7B-D633-438F-B44D-CB4D60E5C492}" destId="{7305DF14-0FF5-45E4-8B19-015814092DBD}" srcOrd="12" destOrd="0" presId="urn:microsoft.com/office/officeart/2011/layout/InterconnectedBlockProcess"/>
    <dgm:cxn modelId="{E8145BB0-195A-4F76-81CB-408C73A830C7}" type="presParOf" srcId="{7305DF14-0FF5-45E4-8B19-015814092DBD}" destId="{A134CDD1-D85F-44EF-8BEE-9F99A855C1E6}" srcOrd="0" destOrd="0" presId="urn:microsoft.com/office/officeart/2011/layout/InterconnectedBlockProcess"/>
    <dgm:cxn modelId="{D7A50FC3-6136-447E-B67D-2DF3EFDF4FAF}" type="presParOf" srcId="{A6BCDA7B-D633-438F-B44D-CB4D60E5C492}" destId="{1C91D7E3-8940-4A33-9182-677DD5415901}" srcOrd="13" destOrd="0" presId="urn:microsoft.com/office/officeart/2011/layout/InterconnectedBlockProcess"/>
    <dgm:cxn modelId="{E585DFC1-80F7-4388-93D1-F20FCB0DB0E7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241406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sp:txBody>
      <dsp:txXfrm>
        <a:off x="7403672" y="811639"/>
        <a:ext cx="1116055" cy="3246556"/>
      </dsp:txXfrm>
    </dsp:sp>
    <dsp:sp modelId="{9362097B-16C0-4AAF-A122-DFB0A8D8E1BE}">
      <dsp:nvSpPr>
        <dsp:cNvPr id="0" name=""/>
        <dsp:cNvSpPr/>
      </dsp:nvSpPr>
      <dsp:spPr>
        <a:xfrm>
          <a:off x="7241406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241406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966279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Continue Merchant app </a:t>
          </a:r>
          <a:r>
            <a:rPr lang="fr-FR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development</a:t>
          </a: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fr-FR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Begin BI + AIML project with US client</a:t>
          </a:r>
          <a:b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 FRMS using real transaction data</a:t>
          </a: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28545" y="811639"/>
        <a:ext cx="1116055" cy="3043646"/>
      </dsp:txXfrm>
    </dsp:sp>
    <dsp:sp modelId="{61CA4398-2062-4A2B-BD5F-AE18FF5B052A}">
      <dsp:nvSpPr>
        <dsp:cNvPr id="0" name=""/>
        <dsp:cNvSpPr/>
      </dsp:nvSpPr>
      <dsp:spPr>
        <a:xfrm>
          <a:off x="5966279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66279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87958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Migrated AML to client production server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Implemented JWT authentication, API keys and logging</a:t>
          </a: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Developed FRMS AI/ML system</a:t>
          </a: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Contributed to Flutter consumer app UI</a:t>
          </a: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b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Started Merchant POS UI redesign</a:t>
          </a:r>
        </a:p>
      </dsp:txBody>
      <dsp:txXfrm>
        <a:off x="4850224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87958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87958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201367" y="811639"/>
          <a:ext cx="1486521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Migrated AML to test server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Created system services for 24/7 runtime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Public API endpoints created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90061" y="811639"/>
        <a:ext cx="1297827" cy="2637826"/>
      </dsp:txXfrm>
    </dsp:sp>
    <dsp:sp modelId="{00BB3360-A9BB-4051-A4B1-1216F82F642C}">
      <dsp:nvSpPr>
        <dsp:cNvPr id="0" name=""/>
        <dsp:cNvSpPr/>
      </dsp:nvSpPr>
      <dsp:spPr>
        <a:xfrm>
          <a:off x="3212124" y="310152"/>
          <a:ext cx="1476588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212124" y="310152"/>
        <a:ext cx="1476588" cy="507274"/>
      </dsp:txXfrm>
    </dsp:sp>
    <dsp:sp modelId="{A134CDD1-D85F-44EF-8BEE-9F99A855C1E6}">
      <dsp:nvSpPr>
        <dsp:cNvPr id="0" name=""/>
        <dsp:cNvSpPr/>
      </dsp:nvSpPr>
      <dsp:spPr>
        <a:xfrm>
          <a:off x="1671818" y="811639"/>
          <a:ext cx="1549209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AML sanctions screening engine development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pipeline and system health monitoring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Environment setup and tech stack finalization</a:t>
          </a:r>
        </a:p>
      </dsp:txBody>
      <dsp:txXfrm>
        <a:off x="1868469" y="811639"/>
        <a:ext cx="1352558" cy="2434917"/>
      </dsp:txXfrm>
    </dsp:sp>
    <dsp:sp modelId="{65257024-FAC0-4522-B139-1CC85B547BE8}">
      <dsp:nvSpPr>
        <dsp:cNvPr id="0" name=""/>
        <dsp:cNvSpPr/>
      </dsp:nvSpPr>
      <dsp:spPr>
        <a:xfrm>
          <a:off x="1679334" y="405819"/>
          <a:ext cx="1534176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679334" y="405819"/>
        <a:ext cx="1534176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hnuH/FRMS" TargetMode="External"/><Relationship Id="rId2" Type="http://schemas.openxmlformats.org/officeDocument/2006/relationships/hyperlink" Target="https://github.com/JahnuH/A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INNOVITEGRADEV/PayseypayPos" TargetMode="External"/><Relationship Id="rId4" Type="http://schemas.openxmlformats.org/officeDocument/2006/relationships/hyperlink" Target="https://github.com/INNOVITEGRADEV/PayseyEpurseMapp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7663520" y="1977104"/>
            <a:ext cx="3204143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Computer Science and Engineering (AI&amp;ML)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Zafar Ali Khan 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Anandan Bellie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Building a Secure FinTech Anti-Money Laundering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816737"/>
              </p:ext>
            </p:extLst>
          </p:nvPr>
        </p:nvGraphicFramePr>
        <p:xfrm>
          <a:off x="1324337" y="1996202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Jahnu Tanai Kumar Hindupur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78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technology company specializing in tailored software, robust hardware, and strategic consultancy.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Principles: Innovation, Seamless Integration, and Client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Empowering businesses in the digital era with end-to-end financial transaction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82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6D74-5368-6C8B-4055-2FC295D2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7590-2211-480D-E1E9-9D901943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FFB5-08EB-82C7-6BFD-09B24261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Software Products: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EFT Switch: Connects diverse payment channels (ATM, POS, Mobile) with PCI-DSS 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Management System (CMS): Supports major interchanges like VISA, Mastercard,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 &amp; Merchant Portal: Digital payment platforms and management gateways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3D7E-F4AE-8881-6719-63F4E73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D0DF-5532-0DC6-608A-503F936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EC14-13C8-35A7-9E1F-F4E1FB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239C-86B1-9C6B-75B6-6CA2AD0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Services: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ATMs, Recyclers, POS terminals, Kiosks, and HSMs.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Services: Custom Software Development, Resource Augmentation, and Strategic Advisory.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1429-A2FE-2931-AFC2-4600B9CF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94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72B37-E549-EE76-5F84-8C797F89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A1D7-A9EB-51CB-1489-4F87FA08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2E3C3-2F2A-3BFA-4AE6-C58E69ED7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59" y="1399903"/>
            <a:ext cx="11574682" cy="405819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Financial Technology (FinTech), Regulatory Compliance &amp; Mobile Payments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Focus Areas: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(AML) &amp; Sanctions Screening, Fraud &amp; Risk Intelligence using AI/ML, Mobile Application UI Modernization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 Stack: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(Flask) - REST API development, PostgreSQL - Relational database, Elasticsearch - High-performance fuzzy search &amp; indexing,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Large-scale transaction data ingestion (FRMS)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Deployment: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(Ubuntu) server deployment, Nginx, DNS configuration &amp; SSL (HTTPS), JWT Authentication &amp; API Key protection, System services for 24/7 runtime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(branching &amp; collaboration), Cisco Secure Client VPN, Remote Desktop, Duo MFA, Postman,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PuTTY, WinSCP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Development: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(Dart) - Consumer app UI, Android Studio (XML/Java) - Merchant POS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31EC2-4764-1856-F42F-2ABC8B1B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13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57930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in a collaborative FinTech product development team.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reporting and progress updates to Reporting Manager.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 on Windows using VS Code &amp; virtual environments.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development and deployment on Linux servers.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Cross-Team Collaboration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Coordinated with: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Backend/API developers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infrastructure team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development team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Exposure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with client production servers using: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Secure Client VPN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Desktop access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 multi-factor 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5144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Deployment 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Migrating AML system from test server to client production environment.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secure enterprise access and remote infrastructure.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Implementation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JWT authentication and API key security without breaking existing APIs.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logging and audit trails for compliance.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Without Labels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fraud intelligence models without labelled fraud data.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evaluation strategies using unsupervised learning.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On-the-Job Mobile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Flutter and Android UI development from scratch.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UI while ensuring backend compatibility.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on Multiple Projects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between backend, AI/ML and mobile UI tasks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1007705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Internship Objectives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a production-ready AML screening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secure, scalable API infrastructure.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self-learning Fraud &amp; Risk Management System using AI/ML.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to real production mobile applications.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 with enterprise deployment and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4689" y="1184367"/>
            <a:ext cx="10339111" cy="452031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&amp; Regulatory Standards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global sanctions frameworks and compliance requirements: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OFAC, UN, EU watchlists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audit trails and traceability in financial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best practices for secure REST APIs in FinTech.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Matching &amp; Search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string similarity techniques for name screening: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Levenstein distance and phonetic matching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Elasticsearch indexing and search optimization for large datasets.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using AI/ML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unsupervised learning approaches due to lack of labeled fraud data: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Behavioral profiling and anomaly detection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shadow-mode risk scoring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how AI complements existing rule-based fraud systems.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UI/UX &amp; Modern App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principles of implementing Figma designs in real applications.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Flutter and Android UI architecture for production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6990" y="1184366"/>
            <a:ext cx="9657505" cy="455570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Screening Platform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sanctions data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screening APIs using Elasticsearch.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production deployment with HTTPS, JWT &amp; logging.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Risk Management System (FRMS)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Self-learning AI layer supporting rule-based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profiling and anomaly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transaction decision API (ALLOW / STEP_UP / DECLINE).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UI Modernization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Flutter app UI updates from Figma.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POS Android app UI redesign (ongoing).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&amp; Enterprise Deployment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system to client production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authentication, logging and 24/7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790" y="1184366"/>
            <a:ext cx="10345010" cy="466779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must continuously monitor transactions and customers to prevent money laundering and fraud while meeting strict regulatory requirements.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is impossible due to massive data volume.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fraud systems struggle to adapt to evolving fraud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must be secure, scalable and always available.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require modern UI while maintaining backend stability.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secure, scalable and intelligent solutions that enable: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AML screening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fraud risk intelligence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production 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Modernized user and merchant mobile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790" y="1184367"/>
            <a:ext cx="10444358" cy="450851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3.8+, Flask (Backend API development)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PostgreSQL, Elasticsearch,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(Data storage &amp; analytics)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(Ubuntu) server environment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 for version control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SDK and Android Studio for mobile UI development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pgAdmin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PuTTY, WinSCP for testing and deployment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Infrastructure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Linux servers for deployment and production hosting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enterprise access (VPN, MFA, Remote Desktop)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internet connectivity for data ingestion and API services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Development Setup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Android device for testing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test cards for POS app validation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186" y="1184366"/>
            <a:ext cx="10309614" cy="46323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Compliance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APIs with HTTPS, JWT authentication and API key protection.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and audit trails for regulatory compliance.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Reliability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 production deployment on client server.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supporting future expansion.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Risk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AML screening.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fraud intelligence to complement rule-based systems.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 and faster decision making.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Modernized consumer and merchant mobile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2386" y="1184367"/>
            <a:ext cx="10321413" cy="46029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Microservices-inspired architecture using Python (Flask).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AML screening and fraud decision services.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services for data ingestion and monitoring.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Intelligence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for relational data storage.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Elasticsearch for fast fuzzy search and screening.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transaction data processing (FRMS).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models for anomaly detection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profiling.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Deployment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Nginx, DNS and SSL for secure HTTPS endpoints.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and API key protection.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system services for 24/7 uptime.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Applications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Flutter app (UI modernization).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Merchant POS Android app (UI redesign in progress).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890" y="1013286"/>
            <a:ext cx="10350910" cy="482707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System - Fully Implemented &amp; Deployed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sanctions data ingestion and screening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REST API endpoints for real-time screening.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Migrated system to test server and later to client production server.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Linux system services for 24/7 runtime.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public HTTPS endpoints with DNS and SSL.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JWT authentication, API key security and endpoint logging.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&amp; Risk Management System (FRMS)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data ingestion, feature engineering and model training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unsupervised models for anomaly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live transaction decision API.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awaiting real transaction data for further enhancement.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UI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assigned UI screens in Flutter consumer app.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Merchant POS Android app UI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719379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9636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49" y="117928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AML Project: </a:t>
            </a:r>
            <a:r>
              <a:rPr lang="en-US" dirty="0">
                <a:hlinkClick r:id="rId2"/>
              </a:rPr>
              <a:t>https://github.com/JahnuH/AML</a:t>
            </a:r>
            <a:endParaRPr lang="en-US" dirty="0"/>
          </a:p>
          <a:p>
            <a:endParaRPr lang="en-US" dirty="0"/>
          </a:p>
          <a:p>
            <a:r>
              <a:rPr lang="en-US" dirty="0"/>
              <a:t>FRMS Project: </a:t>
            </a:r>
            <a:r>
              <a:rPr lang="en-US" dirty="0">
                <a:hlinkClick r:id="rId3"/>
              </a:rPr>
              <a:t>https://github.com/JahnuH/FRMS</a:t>
            </a:r>
            <a:endParaRPr lang="en-US" dirty="0"/>
          </a:p>
          <a:p>
            <a:endParaRPr lang="en-US" dirty="0"/>
          </a:p>
          <a:p>
            <a:r>
              <a:rPr lang="en-US" dirty="0"/>
              <a:t>Flutter Consumer App: </a:t>
            </a:r>
            <a:r>
              <a:rPr lang="en-US" dirty="0">
                <a:hlinkClick r:id="rId4"/>
              </a:rPr>
              <a:t>https://github.com/INNOVITEGRADEV/PayseyEpurseMapp</a:t>
            </a:r>
            <a:endParaRPr lang="en-US" dirty="0"/>
          </a:p>
          <a:p>
            <a:endParaRPr lang="en-US" dirty="0"/>
          </a:p>
          <a:p>
            <a:r>
              <a:rPr lang="en-US" dirty="0"/>
              <a:t>Merchant POS App: </a:t>
            </a:r>
            <a:r>
              <a:rPr lang="en-US" dirty="0">
                <a:hlinkClick r:id="rId5"/>
              </a:rPr>
              <a:t>https://github.com/INNOVITEGRADEV/PayseypayPos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7093</TotalTime>
  <Words>1632</Words>
  <Application>Microsoft Office PowerPoint</Application>
  <PresentationFormat>Widescreen</PresentationFormat>
  <Paragraphs>251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Innovitegra Solutions</vt:lpstr>
      <vt:lpstr>About Innovitegra Solutions</vt:lpstr>
      <vt:lpstr>About Innovitegra Solutions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Jahnu Hindupur</cp:lastModifiedBy>
  <cp:revision>721</cp:revision>
  <dcterms:created xsi:type="dcterms:W3CDTF">2022-10-14T07:18:17Z</dcterms:created>
  <dcterms:modified xsi:type="dcterms:W3CDTF">2026-02-27T19:03:24Z</dcterms:modified>
</cp:coreProperties>
</file>